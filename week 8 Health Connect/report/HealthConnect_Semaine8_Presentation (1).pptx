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0F6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754880"/>
            <a:ext cx="4114800" cy="4114800"/>
          </a:xfrm>
          <a:prstGeom prst="ellipse">
            <a:avLst/>
          </a:prstGeom>
          <a:solidFill>
            <a:srgbClr val="D85A30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Decision Support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8 — Intégration finale, piste Data Analytics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Fortuné Assouan   ·   AnalystLab Africa Experience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rendez-vous sur deux n'est pas honoré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cherche à réduire les rendez-vous manqués, mieux utiliser ses créneaux disponibles et renforcer son support administratif aux patients.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la piste Data Analytics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facteurs de risque de no-show et transformer ces données en recommandations exploitables pour la clinique et pour les autres pistes du projet.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44805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0" y="1865376"/>
            <a:ext cx="4297680" cy="16596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48,5 %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3608222"/>
            <a:ext cx="4297680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NO-SHOW GLOBAL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5 000 rendez-vous analysés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 → SEMAINE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du projet, du CSV à l'intégration finale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0" cy="4480560"/>
          </a:xfrm>
          <a:prstGeom prst="line">
            <a:avLst/>
          </a:prstGeom>
          <a:noFill/>
          <a:ln w="25400">
            <a:solidFill>
              <a:srgbClr val="D8E2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581912"/>
            <a:ext cx="402336" cy="402336"/>
          </a:xfrm>
          <a:prstGeom prst="ellipse">
            <a:avLst/>
          </a:prstGeom>
          <a:solidFill>
            <a:srgbClr val="0F6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721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du problème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64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du dataset HealthConnect (5 000 rendez-vous, 18 colonnes, 1 696 patients) et définition du rôle Data Analytics.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" y="2702052"/>
            <a:ext cx="402336" cy="402336"/>
          </a:xfrm>
          <a:prstGeom prst="ellipse">
            <a:avLst/>
          </a:prstGeom>
          <a:solidFill>
            <a:srgbClr val="0F6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7020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923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dashboard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849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calculés (DAX), dashboard Power BI 1 page, 5 premiers insights business (délai, distance, rappel, antécédent).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8952" y="3822192"/>
            <a:ext cx="402336" cy="402336"/>
          </a:xfrm>
          <a:prstGeom prst="ellipse">
            <a:avLst/>
          </a:prstGeom>
          <a:solidFill>
            <a:srgbClr val="0F6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822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124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 combiné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0050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du risk_score — gradient 31,4 % → 71,1 % ; imputation médiane appliquée ; camembert corrigé manuellement dans Power BI.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" y="4942332"/>
            <a:ext cx="402336" cy="402336"/>
          </a:xfrm>
          <a:prstGeom prst="ellipse">
            <a:avLst/>
          </a:prstGeom>
          <a:solidFill>
            <a:srgbClr val="0F6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9423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8326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prédictifs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1252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testé en régression logistique : bat la baseline mais perd face aux 4 facteurs séparés ; angle mort identifié sur les faux négatifs.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8952" y="6062472"/>
            <a:ext cx="402336" cy="402336"/>
          </a:xfrm>
          <a:prstGeom prst="ellipse">
            <a:avLst/>
          </a:prstGeom>
          <a:solidFill>
            <a:srgbClr val="D85A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6062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9527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finale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624535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Data Analytics complet, collaboration HC-POD documentée, clôture assumée sans retour de Data Science.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PRINCIPAL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dashboard Power BI final</a:t>
            </a:r>
            <a:endParaRPr lang="en-US" sz="3000" dirty="0"/>
          </a:p>
        </p:txBody>
      </p:sp>
      <p:pic>
        <p:nvPicPr>
          <p:cNvPr id="4" name="Image 0" descr="/mnt/user-data/upload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91640"/>
            <a:ext cx="9326880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VALIDÉS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leviers expliquent l'essentiel du risque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65376"/>
            <a:ext cx="3291840" cy="115671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24,8 % → 60,5 %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41294"/>
            <a:ext cx="3291840" cy="736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selon le délai de réservation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(0-3 jours vs 30 jours et plus)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1865376"/>
            <a:ext cx="3291840" cy="115671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57,8 %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3041294"/>
            <a:ext cx="3291840" cy="736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au-delà de 20 km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distance à la clinique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1865376"/>
            <a:ext cx="3291840" cy="115671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041294"/>
            <a:ext cx="3291840" cy="736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rappel le plus efficace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(45,8 % de no-show, vs 51,4 % sans rappel)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délai de réservation reste le facteur le plus déterminant, confirmé par le modèle testé en Semaine 7 (odds ratio le plus élevé des quatre facteurs).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7 — TESTING &amp; REFINEMENT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score de risque, mis à l'épreuve d'un modèle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 risque confirmé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F6E56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246888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F6E5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2148840"/>
            <a:ext cx="1371600" cy="1463040"/>
          </a:xfrm>
          <a:prstGeom prst="roundRect">
            <a:avLst>
              <a:gd name="adj" fmla="val 5333"/>
            </a:avLst>
          </a:prstGeom>
          <a:solidFill>
            <a:srgbClr val="0F6E5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74920" y="182880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D85A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7947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facteur  31,4 %    →    1 facteur  44,9 %    →    2 facteurs  59,3 %    →    3 facteurs  71,1 %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20840" y="1645920"/>
            <a:ext cx="4892040" cy="4572000"/>
          </a:xfrm>
          <a:prstGeom prst="roundRect">
            <a:avLst>
              <a:gd name="adj" fmla="val 2000"/>
            </a:avLst>
          </a:prstGeom>
          <a:solidFill>
            <a:srgbClr val="F4F6F5"/>
          </a:solidFill>
          <a:ln w="12700">
            <a:solidFill>
              <a:srgbClr val="E7EB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du test prédictif (S7)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3317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seul 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48,8 % — bat la baseline, stable, mais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facteurs séparés 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64,0 % — nettement meilleurs pour la modélisation.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36576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Recommandation transmise à Data Science : utiliser les 4 facteurs séparément plutôt que le score agrégé.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470916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mort identifié : un sous-groupe de no-show échappe aux 4 facteurs actuels — délai moyen 19,5 j, 78,6 % avaient pourtant reçu un rappel.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7 — EXTENSION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approches testées</a:t>
            </a:r>
            <a:endParaRPr lang="en-US" sz="3000" dirty="0"/>
          </a:p>
        </p:txBody>
      </p:sp>
      <p:pic>
        <p:nvPicPr>
          <p:cNvPr id="4" name="Image 0" descr="/home/claude/s8slides/char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94360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749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: 0,616 (score seul)  vs  0,644 (4 facteurs séparés)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720840" y="1691640"/>
            <a:ext cx="4892040" cy="4526280"/>
          </a:xfrm>
          <a:prstGeom prst="roundRect">
            <a:avLst>
              <a:gd name="adj" fmla="val 2020"/>
            </a:avLst>
          </a:prstGeom>
          <a:solidFill>
            <a:srgbClr val="F4F6F5"/>
          </a:solidFill>
          <a:ln w="12700">
            <a:solidFill>
              <a:srgbClr val="E7EB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9516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approches testées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brutes (12 col.)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26974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0,672 · Recall 59,5 % · Accuracy non mesurée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3383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(profondeur 8)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703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train 75,8 % vs test 61,4 % — surapprentissage net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4389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/ RF sur facteurs binarisés (CV 5)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4709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gain net — détail des métriques non conservé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&amp;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8379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la relance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5856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réservations à plus de 20-30 jours d'échéance — le levier le plus fort.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1965960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8379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la logistique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25856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patients situés à plus de 20 km de la clinique.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611880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48386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les rappels SMS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044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les présenter comme le levier n°1 (poids le plus faible des 4 facteurs).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3375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3611880"/>
            <a:ext cx="146304" cy="146304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12280" y="348386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les rendez-vous de suivi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9044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d'appointment le plus à risque de no-show.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5257800"/>
            <a:ext cx="146304" cy="146304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512978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les 4 facteurs séparés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55040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modélisation prédictive plutôt que le score agrégé.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9834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9672" y="5257800"/>
            <a:ext cx="146304" cy="146304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512978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de nouvelles variables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555040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capter le sous-groupe de no-show non détecté.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1828800"/>
            <a:ext cx="5486400" cy="5486400"/>
          </a:xfrm>
          <a:prstGeom prst="ellipse">
            <a:avLst/>
          </a:prstGeom>
          <a:solidFill>
            <a:srgbClr val="0F6E56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COLLABORATION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51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reste ouvert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57984"/>
            <a:ext cx="109728" cy="1097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1031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réponse reçue de Data Science : le livrable S8 est finalisé sur les seules données Data Analytics.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816352"/>
            <a:ext cx="109728" cy="1097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76148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 à 4 facteurs simultanés trop faible pour conclure (n = 22).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474720"/>
            <a:ext cx="109728" cy="1097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4198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Sous-groupe de no-show sans facteur de risque connu, non résolu à ce stade.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133088"/>
            <a:ext cx="109728" cy="1097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078224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test exploratoire — non représentatif du modèle final de Data Science.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0749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indicateur pertinent en analyse descriptive ne se comporte pas toujours de la même façon une fois testé dans un vrai modèle — il faut tester, pas seulement supposer.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Fortuné Assouan, piste Data Analytics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2026-09-26T10:47:24Z</dcterms:created>
  <dcterms:modified xsi:type="dcterms:W3CDTF">2026-09-26T10:47:24Z</dcterms:modified>
</cp:coreProperties>
</file>